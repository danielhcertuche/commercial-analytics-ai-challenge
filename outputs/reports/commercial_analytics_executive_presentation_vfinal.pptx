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Montserrat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6a6603c50_2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96a6603c50_2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96a6603c50_2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6a6603c50_2_7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g396a6603c50_2_7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96a6603c50_2_7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6a6603c50_2_12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g396a6603c50_2_12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96a6603c50_2_12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6a6603c50_2_15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g396a6603c50_2_15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96a6603c50_2_15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6a6603c50_2_178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g396a6603c50_2_178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96a6603c50_2_178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6a6603c50_0_22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g396a6603c50_0_22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96a6603c50_0_22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6a6603c50_0_54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g396a6603c50_0_54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96a6603c50_0_54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6a6603c50_2_21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g396a6603c50_2_21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96a6603c50_2_21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6a6603c50_2_25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g396a6603c50_2_25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96a6603c50_2_25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danielhcertuche/commercial-analytics-ai-challeng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27432" y="109728"/>
            <a:ext cx="3360420" cy="4924044"/>
          </a:xfrm>
          <a:prstGeom prst="rect">
            <a:avLst/>
          </a:prstGeom>
          <a:solidFill>
            <a:srgbClr val="2448A8"/>
          </a:solidFill>
          <a:ln cap="flat" cmpd="sng" w="12700">
            <a:solidFill>
              <a:srgbClr val="244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3058668" y="109728"/>
            <a:ext cx="274320" cy="4924044"/>
          </a:xfrm>
          <a:prstGeom prst="rect">
            <a:avLst/>
          </a:prstGeom>
          <a:solidFill>
            <a:srgbClr val="F2D22E"/>
          </a:solidFill>
          <a:ln cap="flat" cmpd="sng" w="12700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0" y="4080510"/>
            <a:ext cx="994410" cy="99441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3E6CC0">
              <a:alpha val="87843"/>
            </a:srgbClr>
          </a:solidFill>
          <a:ln cap="flat" cmpd="sng" w="12700">
            <a:solidFill>
              <a:srgbClr val="3E6CC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7852410" y="308610"/>
            <a:ext cx="1028700" cy="10287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DCECE5"/>
          </a:solidFill>
          <a:ln cap="flat" cmpd="sng" w="12700">
            <a:solidFill>
              <a:srgbClr val="DCECE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80060" y="480060"/>
            <a:ext cx="1234440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66344" y="1508760"/>
            <a:ext cx="21259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1" lang="e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Prueba técnica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80060" y="3086100"/>
            <a:ext cx="21945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F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DCE6FF"/>
                </a:solidFill>
                <a:latin typeface="Arial"/>
                <a:ea typeface="Arial"/>
                <a:cs typeface="Arial"/>
                <a:sym typeface="Arial"/>
              </a:rPr>
              <a:t>Resultados y demo funcional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480060" y="3339846"/>
            <a:ext cx="24003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F"/>
              </a:buClr>
              <a:buSzPts val="800"/>
              <a:buFont typeface="Arial"/>
              <a:buNone/>
            </a:pPr>
            <a:r>
              <a:rPr lang="es" sz="800">
                <a:solidFill>
                  <a:srgbClr val="DCE6FF"/>
                </a:solidFill>
                <a:latin typeface="Arial"/>
                <a:ea typeface="Arial"/>
                <a:cs typeface="Arial"/>
                <a:sym typeface="Arial"/>
              </a:rPr>
              <a:t>Presentación sintetizada a partir de hallazgos Q1-Q7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3737610" y="1474470"/>
            <a:ext cx="4903470" cy="2386584"/>
          </a:xfrm>
          <a:prstGeom prst="roundRect">
            <a:avLst>
              <a:gd fmla="val 2299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3737610" y="1474470"/>
            <a:ext cx="4903470" cy="54864"/>
          </a:xfrm>
          <a:prstGeom prst="rect">
            <a:avLst/>
          </a:prstGeom>
          <a:solidFill>
            <a:srgbClr val="F2D22E"/>
          </a:solidFill>
          <a:ln cap="flat" cmpd="sng" w="12700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991356" y="1728216"/>
            <a:ext cx="21945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1" lang="e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Alcance del entregable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011930" y="2105406"/>
            <a:ext cx="425196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Análisis de ventas y dolor del cliente, segmentación de clientes, arquitectura de recomendación en tiempo real, propuesta de expansión física, base de conocimiento de productos y prompts de sistema para un agente de IA.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3963924" y="2688336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Char char="•"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KPIs principales: volumen, ingresos, reseñas, ticket medio y señales de abandono.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Char char="•"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Segmentación: cliente fiel, esporádico, nuevo y en riesgo.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Char char="•"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Recomendación: enfoque híbrido, explicable y orientado a negocio.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Char char="•"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Demo: agente local sin dependencia de API externa.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466344" y="4560570"/>
            <a:ext cx="39776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F"/>
              </a:buClr>
              <a:buSzPts val="900"/>
              <a:buFont typeface="Arial"/>
              <a:buNone/>
            </a:pPr>
            <a:r>
              <a:rPr lang="es" sz="900">
                <a:solidFill>
                  <a:srgbClr val="DCE6FF"/>
                </a:solidFill>
                <a:latin typeface="Arial"/>
                <a:ea typeface="Arial"/>
                <a:cs typeface="Arial"/>
                <a:sym typeface="Arial"/>
              </a:rPr>
              <a:t>Autor: Daniel H. Certuche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F"/>
              </a:buClr>
              <a:buSzPts val="900"/>
              <a:buFont typeface="Arial"/>
              <a:buNone/>
            </a:pPr>
            <a:r>
              <a:rPr lang="es" sz="900">
                <a:solidFill>
                  <a:srgbClr val="DCE6FF"/>
                </a:solidFill>
                <a:latin typeface="Arial"/>
                <a:ea typeface="Arial"/>
                <a:cs typeface="Arial"/>
                <a:sym typeface="Arial"/>
              </a:rPr>
              <a:t>Repositorio: </a:t>
            </a:r>
            <a:r>
              <a:rPr lang="es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GitHub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7783830" y="4814316"/>
            <a:ext cx="9601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Fecha: 2026-03-29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27432" y="109728"/>
            <a:ext cx="9066276" cy="4924044"/>
          </a:xfrm>
          <a:prstGeom prst="roundRect">
            <a:avLst>
              <a:gd fmla="val 1671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27432" y="109728"/>
            <a:ext cx="82296" cy="4924044"/>
          </a:xfrm>
          <a:prstGeom prst="rect">
            <a:avLst/>
          </a:prstGeom>
          <a:solidFill>
            <a:srgbClr val="F2D22E"/>
          </a:solidFill>
          <a:ln cap="flat" cmpd="sng" w="12700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123444" y="109728"/>
            <a:ext cx="34290" cy="4924044"/>
          </a:xfrm>
          <a:prstGeom prst="rect">
            <a:avLst/>
          </a:prstGeom>
          <a:solidFill>
            <a:srgbClr val="2448A8"/>
          </a:solidFill>
          <a:ln cap="flat" cmpd="sng" w="12700">
            <a:solidFill>
              <a:srgbClr val="244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48006" y="13716"/>
            <a:ext cx="68580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7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 / </a:t>
            </a:r>
            <a:r>
              <a:rPr lang="es" sz="700">
                <a:solidFill>
                  <a:srgbClr val="4B5563"/>
                </a:solidFill>
              </a:rPr>
              <a:t>9</a:t>
            </a:r>
            <a:endParaRPr sz="700">
              <a:solidFill>
                <a:srgbClr val="4B5563"/>
              </a:solidFill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7920990" y="240030"/>
            <a:ext cx="89154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7440930" y="384048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7 secciones + cierre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97764" y="356616"/>
            <a:ext cx="63093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Arial"/>
              <a:buNone/>
            </a:pPr>
            <a:r>
              <a:rPr b="1" lang="es" sz="1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Índice de contenidos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97764" y="706374"/>
            <a:ext cx="644652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Resumen ejecutivo del análisis, modelado y propuesta de implementación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16"/>
          <p:cNvCxnSpPr/>
          <p:nvPr/>
        </p:nvCxnSpPr>
        <p:spPr>
          <a:xfrm>
            <a:off x="171450" y="932688"/>
            <a:ext cx="8709660" cy="0"/>
          </a:xfrm>
          <a:prstGeom prst="straightConnector1">
            <a:avLst/>
          </a:prstGeom>
          <a:noFill/>
          <a:ln cap="flat" cmpd="sng" w="12700">
            <a:solidFill>
              <a:srgbClr val="B8C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6"/>
          <p:cNvSpPr/>
          <p:nvPr/>
        </p:nvSpPr>
        <p:spPr>
          <a:xfrm>
            <a:off x="397764" y="1131570"/>
            <a:ext cx="6309300" cy="3463200"/>
          </a:xfrm>
          <a:prstGeom prst="roundRect">
            <a:avLst>
              <a:gd fmla="val 1584" name="adj"/>
            </a:avLst>
          </a:prstGeom>
          <a:solidFill>
            <a:srgbClr val="FCFCFD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97764" y="1131570"/>
            <a:ext cx="6309360" cy="75438"/>
          </a:xfrm>
          <a:prstGeom prst="rect">
            <a:avLst/>
          </a:prstGeom>
          <a:solidFill>
            <a:srgbClr val="F2D22E"/>
          </a:solidFill>
          <a:ln cap="flat" cmpd="sng" w="12700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6"/>
          <p:cNvCxnSpPr/>
          <p:nvPr/>
        </p:nvCxnSpPr>
        <p:spPr>
          <a:xfrm flipH="1" rot="10800000">
            <a:off x="617220" y="3420000"/>
            <a:ext cx="5891700" cy="9000"/>
          </a:xfrm>
          <a:prstGeom prst="straightConnector1">
            <a:avLst/>
          </a:prstGeom>
          <a:noFill/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16"/>
          <p:cNvSpPr/>
          <p:nvPr/>
        </p:nvSpPr>
        <p:spPr>
          <a:xfrm>
            <a:off x="617220" y="3566160"/>
            <a:ext cx="17145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1" lang="es" sz="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Metodología (resumen)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617220" y="3758184"/>
            <a:ext cx="22631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1) Integración y calidad de datos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2) KPIs de ventas y experiencia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3) Segmentación y arquitectura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4) Validación </a:t>
            </a:r>
            <a:r>
              <a:rPr lang="es" sz="800">
                <a:solidFill>
                  <a:srgbClr val="4B5563"/>
                </a:solidFill>
              </a:rPr>
              <a:t>prompts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6814566" y="3482468"/>
            <a:ext cx="1189863" cy="12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Nota de lectura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6844284" y="3771900"/>
            <a:ext cx="1784795" cy="662086"/>
          </a:xfrm>
          <a:prstGeom prst="roundRect">
            <a:avLst>
              <a:gd fmla="val 6780" name="adj"/>
            </a:avLst>
          </a:prstGeom>
          <a:solidFill>
            <a:srgbClr val="F5F7FA"/>
          </a:solidFill>
          <a:ln cap="flat" cmpd="sng" w="12700">
            <a:solidFill>
              <a:srgbClr val="F5F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6952868" y="3891043"/>
            <a:ext cx="1487329" cy="325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Cada sección resume objetivo, evidencia, lectura de negocio y decisión sugerida.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240030" y="4834890"/>
            <a:ext cx="45262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Autor: Daniel H. Certuche · Repositorio: GitHub 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7783830" y="4834890"/>
            <a:ext cx="9601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Fecha: 2026-03-29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603500" y="1263842"/>
            <a:ext cx="274500" cy="260100"/>
          </a:xfrm>
          <a:prstGeom prst="roundRect">
            <a:avLst>
              <a:gd fmla="val 22222" name="adj"/>
            </a:avLst>
          </a:prstGeom>
          <a:solidFill>
            <a:srgbClr val="DDEAE5"/>
          </a:solidFill>
          <a:ln cap="flat" cmpd="sng" w="13375">
            <a:solidFill>
              <a:srgbClr val="DDE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617223" y="1321600"/>
            <a:ext cx="181500" cy="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950098" y="1249400"/>
            <a:ext cx="23106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Categorías líderes por volumen e ingresos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950098" y="1429919"/>
            <a:ext cx="23106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2"/>
              <a:buFont typeface="Arial"/>
              <a:buNone/>
            </a:pPr>
            <a:r>
              <a:t/>
            </a:r>
            <a:endParaRPr sz="8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3891086" y="1263842"/>
            <a:ext cx="274500" cy="260100"/>
          </a:xfrm>
          <a:prstGeom prst="roundRect">
            <a:avLst>
              <a:gd fmla="val 22222" name="adj"/>
            </a:avLst>
          </a:prstGeom>
          <a:solidFill>
            <a:srgbClr val="DDEAE5"/>
          </a:solidFill>
          <a:ln cap="flat" cmpd="sng" w="13375">
            <a:solidFill>
              <a:srgbClr val="DDE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3904829" y="1321600"/>
            <a:ext cx="181500" cy="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237684" y="1249400"/>
            <a:ext cx="231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Mayor dolor del cliente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4237684" y="1429919"/>
            <a:ext cx="24693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42"/>
              <a:buFont typeface="Arial"/>
              <a:buNone/>
            </a:pPr>
            <a:r>
              <a:rPr lang="es" sz="842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Cómo impacta la entrega en reseñas y satisfacción.</a:t>
            </a:r>
            <a:endParaRPr sz="8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603500" y="1827062"/>
            <a:ext cx="274500" cy="260100"/>
          </a:xfrm>
          <a:prstGeom prst="roundRect">
            <a:avLst>
              <a:gd fmla="val 22222" name="adj"/>
            </a:avLst>
          </a:prstGeom>
          <a:solidFill>
            <a:srgbClr val="DDEAE5"/>
          </a:solidFill>
          <a:ln cap="flat" cmpd="sng" w="13375">
            <a:solidFill>
              <a:srgbClr val="DDE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617223" y="1884825"/>
            <a:ext cx="181500" cy="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950098" y="1812620"/>
            <a:ext cx="23106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Segmentación de clientes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950098" y="1993139"/>
            <a:ext cx="23106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42"/>
              <a:buFont typeface="Arial"/>
              <a:buNone/>
            </a:pPr>
            <a:r>
              <a:rPr lang="es" sz="842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Base operativa para fidelización, activación y rescate.</a:t>
            </a:r>
            <a:endParaRPr sz="8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3891086" y="1827062"/>
            <a:ext cx="274500" cy="260100"/>
          </a:xfrm>
          <a:prstGeom prst="roundRect">
            <a:avLst>
              <a:gd fmla="val 22222" name="adj"/>
            </a:avLst>
          </a:prstGeom>
          <a:solidFill>
            <a:srgbClr val="DDEAE5"/>
          </a:solidFill>
          <a:ln cap="flat" cmpd="sng" w="13375">
            <a:solidFill>
              <a:srgbClr val="DDE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3904829" y="1884825"/>
            <a:ext cx="181500" cy="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4237684" y="1812620"/>
            <a:ext cx="23106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Recomendación en tiempo real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4237684" y="1993139"/>
            <a:ext cx="23106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42"/>
              <a:buFont typeface="Arial"/>
              <a:buNone/>
            </a:pPr>
            <a:r>
              <a:rPr lang="es" sz="842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Arquitectura lógica y flujo de decisión.</a:t>
            </a:r>
            <a:endParaRPr sz="8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603500" y="2390282"/>
            <a:ext cx="274500" cy="260100"/>
          </a:xfrm>
          <a:prstGeom prst="roundRect">
            <a:avLst>
              <a:gd fmla="val 22222" name="adj"/>
            </a:avLst>
          </a:prstGeom>
          <a:solidFill>
            <a:srgbClr val="DDEAE5"/>
          </a:solidFill>
          <a:ln cap="flat" cmpd="sng" w="13375">
            <a:solidFill>
              <a:srgbClr val="DDE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617223" y="2448050"/>
            <a:ext cx="181500" cy="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950098" y="2375840"/>
            <a:ext cx="23106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Expansión física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950098" y="2556359"/>
            <a:ext cx="23106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42"/>
              <a:buFont typeface="Arial"/>
              <a:buNone/>
            </a:pPr>
            <a:r>
              <a:rPr lang="es" sz="842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Ciudad priorizada con criterio comercial.</a:t>
            </a:r>
            <a:endParaRPr sz="8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891086" y="2390282"/>
            <a:ext cx="274500" cy="260100"/>
          </a:xfrm>
          <a:prstGeom prst="roundRect">
            <a:avLst>
              <a:gd fmla="val 22222" name="adj"/>
            </a:avLst>
          </a:prstGeom>
          <a:solidFill>
            <a:srgbClr val="DDEAE5"/>
          </a:solidFill>
          <a:ln cap="flat" cmpd="sng" w="13375">
            <a:solidFill>
              <a:srgbClr val="DDE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904829" y="2448049"/>
            <a:ext cx="181500" cy="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4237684" y="2375840"/>
            <a:ext cx="23106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Base de conocimiento de productos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4237684" y="2556359"/>
            <a:ext cx="24144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42"/>
              <a:buFont typeface="Arial"/>
              <a:buNone/>
            </a:pPr>
            <a:r>
              <a:rPr lang="es" sz="842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3 productos top con precio medio y copy comercial.</a:t>
            </a:r>
            <a:endParaRPr sz="8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603500" y="2953502"/>
            <a:ext cx="274500" cy="260100"/>
          </a:xfrm>
          <a:prstGeom prst="roundRect">
            <a:avLst>
              <a:gd fmla="val 22222" name="adj"/>
            </a:avLst>
          </a:prstGeom>
          <a:solidFill>
            <a:srgbClr val="DDEAE5"/>
          </a:solidFill>
          <a:ln cap="flat" cmpd="sng" w="13375">
            <a:solidFill>
              <a:srgbClr val="DDE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617223" y="3011274"/>
            <a:ext cx="181500" cy="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950098" y="2939059"/>
            <a:ext cx="2310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Prompts hiper-personalizados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50098" y="3119579"/>
            <a:ext cx="23106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42"/>
              <a:buFont typeface="Arial"/>
              <a:buNone/>
            </a:pPr>
            <a:r>
              <a:rPr lang="es" sz="842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Tres estilos de conversación para el agente.</a:t>
            </a:r>
            <a:endParaRPr sz="8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3865448" y="3009562"/>
            <a:ext cx="181500" cy="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2448A8"/>
                </a:solidFill>
              </a:rPr>
              <a:t>8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198323" y="2937347"/>
            <a:ext cx="2310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1F2937"/>
                </a:solidFill>
              </a:rPr>
              <a:t>Conclusiones</a:t>
            </a:r>
            <a:endParaRPr b="1" sz="947">
              <a:solidFill>
                <a:srgbClr val="1F2937"/>
              </a:solidFill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198323" y="3117867"/>
            <a:ext cx="23106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42"/>
              <a:buFont typeface="Arial"/>
              <a:buNone/>
            </a:pPr>
            <a:r>
              <a:t/>
            </a:r>
            <a:endParaRPr sz="8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891075" y="2953489"/>
            <a:ext cx="274500" cy="260100"/>
          </a:xfrm>
          <a:prstGeom prst="roundRect">
            <a:avLst>
              <a:gd fmla="val 22222" name="adj"/>
            </a:avLst>
          </a:prstGeom>
          <a:solidFill>
            <a:srgbClr val="DDEAE5"/>
          </a:solidFill>
          <a:ln cap="flat" cmpd="sng" w="13375">
            <a:solidFill>
              <a:srgbClr val="DDE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3904798" y="3011262"/>
            <a:ext cx="181500" cy="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2448A8"/>
                </a:solidFill>
              </a:rPr>
              <a:t>8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3904825" y="2953489"/>
            <a:ext cx="274500" cy="260100"/>
          </a:xfrm>
          <a:prstGeom prst="roundRect">
            <a:avLst>
              <a:gd fmla="val 22222" name="adj"/>
            </a:avLst>
          </a:prstGeom>
          <a:solidFill>
            <a:srgbClr val="DDEAE5"/>
          </a:solidFill>
          <a:ln cap="flat" cmpd="sng" w="13375">
            <a:solidFill>
              <a:srgbClr val="DDEA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75" lIns="72200" spcFirstLastPara="1" rIns="72200" wrap="square" tIns="36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3918548" y="3011262"/>
            <a:ext cx="181500" cy="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75" lIns="72200" spcFirstLastPara="1" rIns="72200" wrap="square" tIns="36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948"/>
              <a:buFont typeface="Arial"/>
              <a:buNone/>
            </a:pPr>
            <a:r>
              <a:rPr b="1" lang="es" sz="947">
                <a:solidFill>
                  <a:srgbClr val="2448A8"/>
                </a:solidFill>
              </a:rPr>
              <a:t>8</a:t>
            </a:r>
            <a:endParaRPr sz="9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38844" y="109803"/>
            <a:ext cx="9066300" cy="4923900"/>
          </a:xfrm>
          <a:prstGeom prst="roundRect">
            <a:avLst>
              <a:gd fmla="val 1671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27432" y="109728"/>
            <a:ext cx="82296" cy="4924044"/>
          </a:xfrm>
          <a:prstGeom prst="rect">
            <a:avLst/>
          </a:prstGeom>
          <a:solidFill>
            <a:srgbClr val="2448A8"/>
          </a:solidFill>
          <a:ln cap="flat" cmpd="sng" w="12700">
            <a:solidFill>
              <a:srgbClr val="244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123444" y="109728"/>
            <a:ext cx="34290" cy="4924044"/>
          </a:xfrm>
          <a:prstGeom prst="rect">
            <a:avLst/>
          </a:prstGeom>
          <a:solidFill>
            <a:srgbClr val="F2D22E"/>
          </a:solidFill>
          <a:ln cap="flat" cmpd="sng" w="12700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8006" y="13716"/>
            <a:ext cx="68580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7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lang="es" sz="700">
                <a:solidFill>
                  <a:srgbClr val="4B5563"/>
                </a:solidFill>
              </a:rPr>
              <a:t>9</a:t>
            </a:r>
            <a:endParaRPr sz="700">
              <a:solidFill>
                <a:srgbClr val="4B5563"/>
              </a:solidFill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7682399" y="253751"/>
            <a:ext cx="1130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HALLAZGOS Q1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7440930" y="384048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Categorías líderes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97764" y="356616"/>
            <a:ext cx="63093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Arial"/>
              <a:buNone/>
            </a:pPr>
            <a:r>
              <a:rPr b="1" lang="es" sz="1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Punto 1 · Qué categorías sostienen el negocio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97764" y="706374"/>
            <a:ext cx="644652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El negocio no depende de una sola lógica comercial: unas categorías destacan por volumen y otras por ingreso.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17"/>
          <p:cNvCxnSpPr/>
          <p:nvPr/>
        </p:nvCxnSpPr>
        <p:spPr>
          <a:xfrm>
            <a:off x="171450" y="932688"/>
            <a:ext cx="8709660" cy="0"/>
          </a:xfrm>
          <a:prstGeom prst="straightConnector1">
            <a:avLst/>
          </a:prstGeom>
          <a:noFill/>
          <a:ln cap="flat" cmpd="sng" w="12700">
            <a:solidFill>
              <a:srgbClr val="B8C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7"/>
          <p:cNvSpPr/>
          <p:nvPr/>
        </p:nvSpPr>
        <p:spPr>
          <a:xfrm>
            <a:off x="240030" y="4834890"/>
            <a:ext cx="45262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Autor: Daniel H. Certuche · Repositorio: GitHub 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7783830" y="4834890"/>
            <a:ext cx="9601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Fecha: 2026-03-29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res_assets/q1_volum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363" y="1371799"/>
            <a:ext cx="3847936" cy="20822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res_assets/q1_revenu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3000" y="1371800"/>
            <a:ext cx="3722736" cy="201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/>
          <p:nvPr/>
        </p:nvSpPr>
        <p:spPr>
          <a:xfrm>
            <a:off x="624167" y="4082826"/>
            <a:ext cx="65820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83825" spcFirstLastPara="1" rIns="83825" wrap="square" tIns="41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78"/>
              <a:buFont typeface="Arial"/>
              <a:buNone/>
            </a:pPr>
            <a:r>
              <a:rPr lang="e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Lectura: Bed Bath Table lidera en unidades; Health Beauty lidera en ingresos. </a:t>
            </a:r>
            <a:endParaRPr sz="120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78"/>
              <a:buFont typeface="Arial"/>
              <a:buNone/>
            </a:pPr>
            <a:r>
              <a:rPr lang="es" sz="12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Esto sugiere combinar categorías de rotación con categorías de mayor monetización.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27432" y="109728"/>
            <a:ext cx="9066300" cy="4923900"/>
          </a:xfrm>
          <a:prstGeom prst="roundRect">
            <a:avLst>
              <a:gd fmla="val 1671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27432" y="109728"/>
            <a:ext cx="82296" cy="4924044"/>
          </a:xfrm>
          <a:prstGeom prst="rect">
            <a:avLst/>
          </a:prstGeom>
          <a:solidFill>
            <a:srgbClr val="F2D22E"/>
          </a:solidFill>
          <a:ln cap="flat" cmpd="sng" w="12700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123444" y="109728"/>
            <a:ext cx="34290" cy="4924044"/>
          </a:xfrm>
          <a:prstGeom prst="rect">
            <a:avLst/>
          </a:prstGeom>
          <a:solidFill>
            <a:srgbClr val="2448A8"/>
          </a:solidFill>
          <a:ln cap="flat" cmpd="sng" w="12700">
            <a:solidFill>
              <a:srgbClr val="244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48006" y="13716"/>
            <a:ext cx="68580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7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lang="es" sz="700">
                <a:solidFill>
                  <a:srgbClr val="4B5563"/>
                </a:solidFill>
              </a:rPr>
              <a:t>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7920990" y="240030"/>
            <a:ext cx="89154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EXPERIENCIA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7440930" y="384048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Dolor del cliente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397777" y="356625"/>
            <a:ext cx="7213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Arial"/>
              <a:buNone/>
            </a:pPr>
            <a:r>
              <a:rPr b="1" lang="es" sz="1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Punto 2 · Qué está deteriorando la experiencia del cliente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397764" y="706374"/>
            <a:ext cx="644652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La evidencia apunta a un factor dominante: cuando la entrega falla, la satisfacción cae de forma visible.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18"/>
          <p:cNvCxnSpPr/>
          <p:nvPr/>
        </p:nvCxnSpPr>
        <p:spPr>
          <a:xfrm>
            <a:off x="171450" y="932688"/>
            <a:ext cx="8709660" cy="0"/>
          </a:xfrm>
          <a:prstGeom prst="straightConnector1">
            <a:avLst/>
          </a:prstGeom>
          <a:noFill/>
          <a:ln cap="flat" cmpd="sng" w="12700">
            <a:solidFill>
              <a:srgbClr val="B8C0C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pres_assets/q2_delay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768" y="1083750"/>
            <a:ext cx="4553467" cy="208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pres_assets/q2_matrix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0525" y="1083754"/>
            <a:ext cx="3604751" cy="20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397775" y="3457625"/>
            <a:ext cx="8257500" cy="1079400"/>
          </a:xfrm>
          <a:prstGeom prst="roundRect">
            <a:avLst>
              <a:gd fmla="val 2353" name="adj"/>
            </a:avLst>
          </a:prstGeom>
          <a:solidFill>
            <a:srgbClr val="FAFBFD"/>
          </a:solidFill>
          <a:ln cap="flat" cmpd="sng" w="887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950" lIns="47900" spcFirstLastPara="1" rIns="47900" wrap="square" tIns="23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867600" y="3457625"/>
            <a:ext cx="7213200" cy="39300"/>
          </a:xfrm>
          <a:prstGeom prst="rect">
            <a:avLst/>
          </a:prstGeom>
          <a:solidFill>
            <a:srgbClr val="2448A8"/>
          </a:solidFill>
          <a:ln cap="flat" cmpd="sng" w="8875">
            <a:solidFill>
              <a:srgbClr val="244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950" lIns="47900" spcFirstLastPara="1" rIns="47900" wrap="square" tIns="23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867600" y="3496850"/>
            <a:ext cx="7213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00" spcFirstLastPara="1" rIns="47900" wrap="square" tIns="23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629"/>
              <a:buFont typeface="Arial"/>
              <a:buNone/>
            </a:pPr>
            <a:r>
              <a:rPr b="1" lang="es" sz="1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Lectura ejecutiva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67600" y="3672000"/>
            <a:ext cx="72132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300" lIns="13300" spcFirstLastPara="1" rIns="13300" wrap="square" tIns="13300">
            <a:noAutofit/>
          </a:bodyPr>
          <a:lstStyle/>
          <a:p>
            <a:pPr indent="-125611" lvl="0" marL="97604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Char char="•"/>
            </a:pPr>
            <a:r>
              <a:rPr lang="es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La tasa de mala reseña pasa de 11% con entrega puntual a 61% con entrega tardía.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5611" lvl="0" marL="97604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Char char="•"/>
            </a:pPr>
            <a:r>
              <a:rPr lang="es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La calificación promedio cae de 4.21 a 2.26 puntos cuando no se cumple la promesa de entrega.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5611" lvl="0" marL="97604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Arial"/>
              <a:buChar char="•"/>
            </a:pPr>
            <a:r>
              <a:rPr lang="es" sz="10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Las categorías donde coinciden escala y fricción deben recibir el primer esfuerzo de mejora.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240030" y="4834890"/>
            <a:ext cx="45262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Autor: Daniel H. Certuche · Repositorio: GitHub 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7783830" y="4834890"/>
            <a:ext cx="9601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Fecha: 2026-03-29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38869" y="109728"/>
            <a:ext cx="9066300" cy="4923900"/>
          </a:xfrm>
          <a:prstGeom prst="roundRect">
            <a:avLst>
              <a:gd fmla="val 1671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7432" y="109728"/>
            <a:ext cx="82296" cy="4924044"/>
          </a:xfrm>
          <a:prstGeom prst="rect">
            <a:avLst/>
          </a:prstGeom>
          <a:solidFill>
            <a:srgbClr val="2448A8"/>
          </a:solidFill>
          <a:ln cap="flat" cmpd="sng" w="12700">
            <a:solidFill>
              <a:srgbClr val="244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123444" y="109728"/>
            <a:ext cx="34290" cy="4924044"/>
          </a:xfrm>
          <a:prstGeom prst="rect">
            <a:avLst/>
          </a:prstGeom>
          <a:solidFill>
            <a:srgbClr val="F2D22E"/>
          </a:solidFill>
          <a:ln cap="flat" cmpd="sng" w="12700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8006" y="13716"/>
            <a:ext cx="68580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7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5 / </a:t>
            </a:r>
            <a:r>
              <a:rPr lang="es" sz="700">
                <a:solidFill>
                  <a:srgbClr val="4B5563"/>
                </a:solidFill>
              </a:rPr>
              <a:t>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7715249" y="288052"/>
            <a:ext cx="10974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DECISIONES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7440930" y="384048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Clientes, recomendación </a:t>
            </a:r>
            <a:r>
              <a:rPr lang="es" sz="600">
                <a:solidFill>
                  <a:srgbClr val="4B5563"/>
                </a:solidFill>
              </a:rPr>
              <a:t>…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397775" y="356625"/>
            <a:ext cx="76407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Arial"/>
              <a:buNone/>
            </a:pPr>
            <a:r>
              <a:rPr b="1" lang="es" sz="1900">
                <a:solidFill>
                  <a:srgbClr val="1F2937"/>
                </a:solidFill>
              </a:rPr>
              <a:t>Punto 3 · Segmentación de clientes </a:t>
            </a:r>
            <a:r>
              <a:rPr lang="es" sz="1600">
                <a:solidFill>
                  <a:srgbClr val="1F2937"/>
                </a:solidFill>
              </a:rPr>
              <a:t>(RFM + riesgo de abandono)</a:t>
            </a:r>
            <a:endParaRPr sz="1600">
              <a:solidFill>
                <a:srgbClr val="1F2937"/>
              </a:solidFill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397764" y="706374"/>
            <a:ext cx="644652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B5563"/>
                </a:solidFill>
              </a:rPr>
              <a:t>Segmentos accionables para marketing: fieles, </a:t>
            </a:r>
            <a:r>
              <a:rPr lang="es" sz="800">
                <a:solidFill>
                  <a:srgbClr val="4B5563"/>
                </a:solidFill>
              </a:rPr>
              <a:t>premium</a:t>
            </a:r>
            <a:r>
              <a:rPr lang="es" sz="800">
                <a:solidFill>
                  <a:srgbClr val="4B5563"/>
                </a:solidFill>
              </a:rPr>
              <a:t>, esporádicos, nuevos y en riesgo</a:t>
            </a:r>
            <a:endParaRPr sz="800">
              <a:solidFill>
                <a:srgbClr val="4B5563"/>
              </a:solidFill>
            </a:endParaRPr>
          </a:p>
        </p:txBody>
      </p:sp>
      <p:cxnSp>
        <p:nvCxnSpPr>
          <p:cNvPr id="185" name="Google Shape;185;p19"/>
          <p:cNvCxnSpPr/>
          <p:nvPr/>
        </p:nvCxnSpPr>
        <p:spPr>
          <a:xfrm>
            <a:off x="171450" y="932688"/>
            <a:ext cx="8709660" cy="0"/>
          </a:xfrm>
          <a:prstGeom prst="straightConnector1">
            <a:avLst/>
          </a:prstGeom>
          <a:noFill/>
          <a:ln cap="flat" cmpd="sng" w="12700">
            <a:solidFill>
              <a:srgbClr val="B8C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9"/>
          <p:cNvSpPr/>
          <p:nvPr/>
        </p:nvSpPr>
        <p:spPr>
          <a:xfrm>
            <a:off x="397764" y="1179576"/>
            <a:ext cx="4217670" cy="3360420"/>
          </a:xfrm>
          <a:prstGeom prst="roundRect">
            <a:avLst>
              <a:gd fmla="val 1633" name="adj"/>
            </a:avLst>
          </a:prstGeom>
          <a:solidFill>
            <a:srgbClr val="FCFCFD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397764" y="1179576"/>
            <a:ext cx="4217670" cy="54864"/>
          </a:xfrm>
          <a:prstGeom prst="rect">
            <a:avLst/>
          </a:prstGeom>
          <a:solidFill>
            <a:srgbClr val="F2D22E"/>
          </a:solidFill>
          <a:ln cap="flat" cmpd="sng" w="12700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res_assets/q3_segments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00" y="1282761"/>
            <a:ext cx="3392199" cy="182391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/>
          <p:nvPr/>
        </p:nvSpPr>
        <p:spPr>
          <a:xfrm>
            <a:off x="589800" y="3089600"/>
            <a:ext cx="38061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Lectura: la base está dominada por compradores esporádicos, seguida por clientes nuevos y grupos de riesgo. La segmentación primaria facilita acciones diferenciadas de fidelización, activación y rescate.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48640" y="3600450"/>
            <a:ext cx="3943350" cy="754380"/>
          </a:xfrm>
          <a:prstGeom prst="roundRect">
            <a:avLst>
              <a:gd fmla="val 7273" name="adj"/>
            </a:avLst>
          </a:prstGeom>
          <a:solidFill>
            <a:srgbClr val="EDF4EF"/>
          </a:solidFill>
          <a:ln cap="flat" cmpd="sng" w="12700">
            <a:solidFill>
              <a:srgbClr val="ED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720090" y="3717036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Lógica de recomendación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720090" y="3895344"/>
            <a:ext cx="34290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Perfil del cliente → historial resumido → candidatos por categoría/segmento → ranking → recomendaciones top-N.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844275" y="1179575"/>
            <a:ext cx="1968000" cy="3360300"/>
          </a:xfrm>
          <a:prstGeom prst="roundRect">
            <a:avLst>
              <a:gd fmla="val 1633" name="adj"/>
            </a:avLst>
          </a:prstGeom>
          <a:solidFill>
            <a:srgbClr val="FAFBFD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844275" y="1172698"/>
            <a:ext cx="1899600" cy="54900"/>
          </a:xfrm>
          <a:prstGeom prst="rect">
            <a:avLst/>
          </a:prstGeom>
          <a:solidFill>
            <a:srgbClr val="2448A8"/>
          </a:solidFill>
          <a:ln cap="flat" cmpd="sng" w="12700">
            <a:solidFill>
              <a:srgbClr val="244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240030" y="4834890"/>
            <a:ext cx="45262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Autor: Daniel H. Certuche · Repositorio: GitHub 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7783830" y="4834890"/>
            <a:ext cx="9601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Fecha: 2026-03-29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6928138" y="1344200"/>
            <a:ext cx="18159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875" lIns="69775" spcFirstLastPara="1" rIns="69775" wrap="square" tIns="34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54"/>
              <a:buFont typeface="Arial"/>
              <a:buNone/>
            </a:pPr>
            <a:r>
              <a:rPr b="1" lang="es" sz="954">
                <a:solidFill>
                  <a:srgbClr val="1F2A44"/>
                </a:solidFill>
              </a:rPr>
              <a:t>Metodología y Supuestos</a:t>
            </a:r>
            <a:endParaRPr b="0" i="0" sz="9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907200" y="1553574"/>
            <a:ext cx="1836900" cy="4422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675">
            <a:solidFill>
              <a:srgbClr val="D7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775" lIns="69775" spcFirstLastPara="1" rIns="69775" wrap="square" tIns="6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6928125" y="1634425"/>
            <a:ext cx="17700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875" lIns="69775" spcFirstLastPara="1" rIns="69775" wrap="square" tIns="34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lang="es" sz="748">
                <a:solidFill>
                  <a:srgbClr val="1F2937"/>
                </a:solidFill>
              </a:rPr>
              <a:t>1) Base interpretable: RFM (recencia, frecuencia, monetario) + ticket promedio.</a:t>
            </a:r>
            <a:endParaRPr sz="748">
              <a:solidFill>
                <a:srgbClr val="1F29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t/>
            </a:r>
            <a:endParaRPr b="1" sz="748">
              <a:solidFill>
                <a:srgbClr val="1F2937"/>
              </a:solidFill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907200" y="2069322"/>
            <a:ext cx="1836900" cy="4422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675">
            <a:solidFill>
              <a:srgbClr val="D7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775" lIns="69775" spcFirstLastPara="1" rIns="69775" wrap="square" tIns="6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6937350" y="2137225"/>
            <a:ext cx="16695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875" lIns="69775" spcFirstLastPara="1" rIns="69775" wrap="square" tIns="34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lang="es" sz="748">
                <a:solidFill>
                  <a:srgbClr val="1F2937"/>
                </a:solidFill>
              </a:rPr>
              <a:t>2) Enriquecimiento: valor, fricción e inactividad como señales auxiliares.</a:t>
            </a:r>
            <a:endParaRPr sz="748">
              <a:solidFill>
                <a:srgbClr val="1F29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t/>
            </a:r>
            <a:endParaRPr b="1" sz="748">
              <a:solidFill>
                <a:srgbClr val="1F2937"/>
              </a:solidFill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907200" y="2585069"/>
            <a:ext cx="1836900" cy="4422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675">
            <a:solidFill>
              <a:srgbClr val="D7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775" lIns="69775" spcFirstLastPara="1" rIns="69775" wrap="square" tIns="6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6937350" y="2672175"/>
            <a:ext cx="17073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875" lIns="69775" spcFirstLastPara="1" rIns="69775" wrap="square" tIns="34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lang="es" sz="748">
                <a:solidFill>
                  <a:srgbClr val="1F2937"/>
                </a:solidFill>
              </a:rPr>
              <a:t>3) Clasificación final: segmento primario + flags, evitando que la fricción absorba toda la taxonomía.</a:t>
            </a:r>
            <a:endParaRPr sz="748">
              <a:solidFill>
                <a:srgbClr val="1F29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t/>
            </a:r>
            <a:endParaRPr b="1" sz="748">
              <a:solidFill>
                <a:srgbClr val="1F2937"/>
              </a:solidFill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6907200" y="3100831"/>
            <a:ext cx="1836900" cy="7545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675">
            <a:solidFill>
              <a:srgbClr val="D7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775" lIns="69775" spcFirstLastPara="1" rIns="69775" wrap="square" tIns="6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6937350" y="3135425"/>
            <a:ext cx="17073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875" lIns="69775" spcFirstLastPara="1" rIns="69775" wrap="square" tIns="34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b="1" lang="es" sz="748">
                <a:solidFill>
                  <a:srgbClr val="1F2937"/>
                </a:solidFill>
              </a:rPr>
              <a:t>• Ventana analítica: 12 meses.</a:t>
            </a:r>
            <a:endParaRPr b="1" sz="748">
              <a:solidFill>
                <a:srgbClr val="1F29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b="1" lang="es" sz="748">
                <a:solidFill>
                  <a:srgbClr val="1F2937"/>
                </a:solidFill>
              </a:rPr>
              <a:t>• Los segmentos de riesgo muestran recencia muy alta y baja frecuencia.</a:t>
            </a:r>
            <a:endParaRPr b="1" sz="748">
              <a:solidFill>
                <a:srgbClr val="1F29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t/>
            </a:r>
            <a:endParaRPr b="1" sz="748">
              <a:solidFill>
                <a:srgbClr val="1F2937"/>
              </a:solidFill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4745850" y="1183075"/>
            <a:ext cx="1968000" cy="3360300"/>
          </a:xfrm>
          <a:prstGeom prst="roundRect">
            <a:avLst>
              <a:gd fmla="val 1633" name="adj"/>
            </a:avLst>
          </a:prstGeom>
          <a:solidFill>
            <a:srgbClr val="FAFBFD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4745850" y="1176198"/>
            <a:ext cx="1899600" cy="54900"/>
          </a:xfrm>
          <a:prstGeom prst="rect">
            <a:avLst/>
          </a:prstGeom>
          <a:solidFill>
            <a:srgbClr val="2448A8"/>
          </a:solidFill>
          <a:ln cap="flat" cmpd="sng" w="12700">
            <a:solidFill>
              <a:srgbClr val="244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4829713" y="1347700"/>
            <a:ext cx="18159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875" lIns="69775" spcFirstLastPara="1" rIns="69775" wrap="square" tIns="34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54"/>
              <a:buFont typeface="Arial"/>
              <a:buNone/>
            </a:pPr>
            <a:r>
              <a:rPr b="1" i="0" lang="es" sz="954" u="none" cap="none" strike="noStrike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Definición de segmentos</a:t>
            </a:r>
            <a:endParaRPr b="0" i="0" sz="9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4808775" y="1557074"/>
            <a:ext cx="1836900" cy="4422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675">
            <a:solidFill>
              <a:srgbClr val="D7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775" lIns="69775" spcFirstLastPara="1" rIns="69775" wrap="square" tIns="6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4829700" y="1572656"/>
            <a:ext cx="1554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875" lIns="69775" spcFirstLastPara="1" rIns="69775" wrap="square" tIns="34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b="1" i="0" lang="es" sz="74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Cliente fiel</a:t>
            </a:r>
            <a:endParaRPr b="0" i="0" sz="7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4838931" y="1780738"/>
            <a:ext cx="1770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875" lIns="69775" spcFirstLastPara="1" rIns="69775" wrap="square" tIns="34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95"/>
              <a:buFont typeface="Arial"/>
              <a:buNone/>
            </a:pPr>
            <a:r>
              <a:rPr b="0" i="0" lang="es" sz="595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Baja recencia, mayor frecuencia y mejor vínculo comercial. Acción: retención y beneficios exclusivos.</a:t>
            </a:r>
            <a:endParaRPr b="0" i="0" sz="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4808775" y="2072822"/>
            <a:ext cx="1836900" cy="4422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675">
            <a:solidFill>
              <a:srgbClr val="D7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775" lIns="69775" spcFirstLastPara="1" rIns="69775" wrap="square" tIns="6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4838925" y="2069026"/>
            <a:ext cx="16695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875" lIns="69775" spcFirstLastPara="1" rIns="69775" wrap="square" tIns="34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b="1" i="0" lang="es" sz="74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Comprador esporádico</a:t>
            </a:r>
            <a:endParaRPr b="0" i="0" sz="7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4838925" y="2283487"/>
            <a:ext cx="1770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875" lIns="69775" spcFirstLastPara="1" rIns="69775" wrap="square" tIns="34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95"/>
              <a:buFont typeface="Arial"/>
              <a:buNone/>
            </a:pPr>
            <a:r>
              <a:rPr b="0" i="0" lang="es" sz="595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Alta participación en la base, frecuencia baja y profundidad relacional limitada. Acción: recordación y activación.</a:t>
            </a:r>
            <a:endParaRPr b="0" i="0" sz="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4808775" y="2588569"/>
            <a:ext cx="1836900" cy="4422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675">
            <a:solidFill>
              <a:srgbClr val="D7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775" lIns="69775" spcFirstLastPara="1" rIns="69775" wrap="square" tIns="6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4838925" y="2623176"/>
            <a:ext cx="1669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875" lIns="69775" spcFirstLastPara="1" rIns="69775" wrap="square" tIns="34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b="1" i="0" lang="es" sz="74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 riesgo / alto valor</a:t>
            </a:r>
            <a:endParaRPr b="0" i="0" sz="7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4838925" y="2786226"/>
            <a:ext cx="1770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875" lIns="69775" spcFirstLastPara="1" rIns="69775" wrap="square" tIns="34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95"/>
              <a:buFont typeface="Arial"/>
              <a:buNone/>
            </a:pPr>
            <a:r>
              <a:rPr b="0" i="0" lang="es" sz="595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Mayor recencia y señales de enfriamiento; si el valor es alto, requiere rescate prioritario.</a:t>
            </a:r>
            <a:endParaRPr b="0" i="0" sz="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4808775" y="3104316"/>
            <a:ext cx="1836900" cy="4422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675">
            <a:solidFill>
              <a:srgbClr val="D7DC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775" lIns="69775" spcFirstLastPara="1" rIns="69775" wrap="square" tIns="69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4838925" y="3138927"/>
            <a:ext cx="1669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875" lIns="69775" spcFirstLastPara="1" rIns="69775" wrap="square" tIns="34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b="1" i="0" lang="es" sz="74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Cliente nuevo / premium</a:t>
            </a:r>
            <a:endParaRPr b="0" i="0" sz="7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4838925" y="3288965"/>
            <a:ext cx="1770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875" lIns="69775" spcFirstLastPara="1" rIns="69775" wrap="square" tIns="34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595"/>
              <a:buFont typeface="Arial"/>
              <a:buNone/>
            </a:pPr>
            <a:r>
              <a:rPr b="0" i="0" lang="es" sz="595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Cliente nuevo: onboarding y segundo pedido. Premium: experiencia preferencial y bundles de valor.</a:t>
            </a:r>
            <a:endParaRPr b="0" i="0" sz="5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/>
          <p:nvPr/>
        </p:nvSpPr>
        <p:spPr>
          <a:xfrm>
            <a:off x="27432" y="109728"/>
            <a:ext cx="9066300" cy="4923900"/>
          </a:xfrm>
          <a:prstGeom prst="roundRect">
            <a:avLst>
              <a:gd fmla="val 1671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p20"/>
          <p:cNvCxnSpPr>
            <a:stCxn id="228" idx="1"/>
          </p:cNvCxnSpPr>
          <p:nvPr/>
        </p:nvCxnSpPr>
        <p:spPr>
          <a:xfrm flipH="1" rot="10800000">
            <a:off x="4923935" y="2050430"/>
            <a:ext cx="1479000" cy="3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20"/>
          <p:cNvCxnSpPr/>
          <p:nvPr/>
        </p:nvCxnSpPr>
        <p:spPr>
          <a:xfrm flipH="1" rot="10800000">
            <a:off x="3232345" y="2039618"/>
            <a:ext cx="1696200" cy="3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0"/>
          <p:cNvCxnSpPr/>
          <p:nvPr/>
        </p:nvCxnSpPr>
        <p:spPr>
          <a:xfrm flipH="1" rot="10800000">
            <a:off x="1316263" y="2052664"/>
            <a:ext cx="18519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20"/>
          <p:cNvSpPr/>
          <p:nvPr/>
        </p:nvSpPr>
        <p:spPr>
          <a:xfrm>
            <a:off x="27432" y="109728"/>
            <a:ext cx="82200" cy="4923900"/>
          </a:xfrm>
          <a:prstGeom prst="rect">
            <a:avLst/>
          </a:prstGeom>
          <a:solidFill>
            <a:srgbClr val="F2D22E"/>
          </a:solidFill>
          <a:ln cap="flat" cmpd="sng" w="12700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23444" y="109728"/>
            <a:ext cx="34200" cy="4923900"/>
          </a:xfrm>
          <a:prstGeom prst="rect">
            <a:avLst/>
          </a:prstGeom>
          <a:solidFill>
            <a:srgbClr val="2448A8"/>
          </a:solidFill>
          <a:ln cap="flat" cmpd="sng" w="12700">
            <a:solidFill>
              <a:srgbClr val="244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8006" y="13716"/>
            <a:ext cx="685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700">
                <a:solidFill>
                  <a:srgbClr val="4B5563"/>
                </a:solidFill>
              </a:rPr>
              <a:t>6</a:t>
            </a:r>
            <a:r>
              <a:rPr lang="es" sz="7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s" sz="700">
                <a:solidFill>
                  <a:srgbClr val="4B5563"/>
                </a:solidFill>
              </a:rPr>
              <a:t>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7852601" y="240025"/>
            <a:ext cx="960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2448A8"/>
                </a:solidFill>
              </a:rPr>
              <a:t>ARQUITECTURA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7440930" y="384048"/>
            <a:ext cx="1371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</a:rPr>
              <a:t>Flujo end-to-end</a:t>
            </a:r>
            <a:endParaRPr sz="600">
              <a:solidFill>
                <a:srgbClr val="4B5563"/>
              </a:solidFill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397775" y="356625"/>
            <a:ext cx="7288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1F293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Arial"/>
              <a:buNone/>
            </a:pPr>
            <a:r>
              <a:rPr b="1" lang="es" sz="195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rPr>
              <a:t>Punto</a:t>
            </a:r>
            <a:r>
              <a:rPr b="1" lang="es" sz="1900">
                <a:solidFill>
                  <a:srgbClr val="1F2937"/>
                </a:solidFill>
              </a:rPr>
              <a:t> </a:t>
            </a:r>
            <a:r>
              <a:rPr b="1" lang="es" sz="195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rPr>
              <a:t>4 · Recomendación en tiempo real </a:t>
            </a:r>
            <a:endParaRPr b="1" sz="1950">
              <a:solidFill>
                <a:srgbClr val="1F293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5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rPr>
              <a:t>Arquitectura y flujo lógico</a:t>
            </a:r>
            <a:endParaRPr sz="1550">
              <a:solidFill>
                <a:srgbClr val="1F293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rgbClr val="1F2937"/>
              </a:solidFill>
            </a:endParaRPr>
          </a:p>
        </p:txBody>
      </p:sp>
      <p:cxnSp>
        <p:nvCxnSpPr>
          <p:cNvPr id="237" name="Google Shape;237;p20"/>
          <p:cNvCxnSpPr/>
          <p:nvPr/>
        </p:nvCxnSpPr>
        <p:spPr>
          <a:xfrm>
            <a:off x="171450" y="932688"/>
            <a:ext cx="8709600" cy="0"/>
          </a:xfrm>
          <a:prstGeom prst="straightConnector1">
            <a:avLst/>
          </a:prstGeom>
          <a:noFill/>
          <a:ln cap="flat" cmpd="sng" w="12700">
            <a:solidFill>
              <a:srgbClr val="B8C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20"/>
          <p:cNvSpPr/>
          <p:nvPr/>
        </p:nvSpPr>
        <p:spPr>
          <a:xfrm>
            <a:off x="397775" y="3457625"/>
            <a:ext cx="8257500" cy="1079400"/>
          </a:xfrm>
          <a:prstGeom prst="roundRect">
            <a:avLst>
              <a:gd fmla="val 2353" name="adj"/>
            </a:avLst>
          </a:prstGeom>
          <a:solidFill>
            <a:srgbClr val="FAFBFD"/>
          </a:solidFill>
          <a:ln cap="flat" cmpd="sng" w="887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950" lIns="47900" spcFirstLastPara="1" rIns="47900" wrap="square" tIns="23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867600" y="3457625"/>
            <a:ext cx="7213200" cy="39300"/>
          </a:xfrm>
          <a:prstGeom prst="rect">
            <a:avLst/>
          </a:prstGeom>
          <a:solidFill>
            <a:srgbClr val="2448A8"/>
          </a:solidFill>
          <a:ln cap="flat" cmpd="sng" w="8875">
            <a:solidFill>
              <a:srgbClr val="244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950" lIns="47900" spcFirstLastPara="1" rIns="47900" wrap="square" tIns="23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867600" y="3496850"/>
            <a:ext cx="3576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00" spcFirstLastPara="1" rIns="47900" wrap="square" tIns="23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Arial"/>
              <a:buNone/>
            </a:pPr>
            <a:r>
              <a:rPr b="1" lang="es" sz="1100">
                <a:solidFill>
                  <a:srgbClr val="1F2A44"/>
                </a:solidFill>
              </a:rPr>
              <a:t>Flujo operativo resumido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240030" y="4834890"/>
            <a:ext cx="45264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Autor: Daniel H. Certuche · Repositorio: GitHub 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7783830" y="4834890"/>
            <a:ext cx="9600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Fecha: 2026-03-29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397783" y="1076621"/>
            <a:ext cx="4389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Arquitectura propuesta para pasar de perfil e historial a una recomendación top-N en tiempo real.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397775" y="1346325"/>
            <a:ext cx="7043100" cy="210300"/>
          </a:xfrm>
          <a:prstGeom prst="roundRect">
            <a:avLst>
              <a:gd fmla="val 43478" name="adj"/>
            </a:avLst>
          </a:prstGeom>
          <a:solidFill>
            <a:srgbClr val="DDEEE8"/>
          </a:solidFill>
          <a:ln cap="flat" cmpd="sng" w="12700">
            <a:solidFill>
              <a:srgbClr val="DDE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471877" y="1385250"/>
            <a:ext cx="42546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80"/>
              <a:buFont typeface="Arial"/>
              <a:buNone/>
            </a:pPr>
            <a:r>
              <a:rPr b="1" i="0" lang="es" sz="88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Capa online (sesión activa): personalización y respuesta inmediata</a:t>
            </a:r>
            <a:endParaRPr b="0" i="0" sz="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397655" y="1661630"/>
            <a:ext cx="1143000" cy="8412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BFC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525671" y="1826222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Identidad cliente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525675" y="2120105"/>
            <a:ext cx="9600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s" sz="6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customer_unique_id</a:t>
            </a:r>
            <a:endParaRPr b="0" i="0" sz="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s" sz="6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segmento + flags</a:t>
            </a:r>
            <a:endParaRPr b="0" i="0" sz="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1604663" y="1972526"/>
            <a:ext cx="183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BEC9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1769255" y="1661630"/>
            <a:ext cx="1234500" cy="8412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BFC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1897271" y="1826222"/>
            <a:ext cx="1051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Perfil resumido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1897269" y="2120101"/>
            <a:ext cx="10515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s" sz="6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favorite_category</a:t>
            </a:r>
            <a:endParaRPr b="0" i="0" sz="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s" sz="6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purchase_history_summary</a:t>
            </a:r>
            <a:endParaRPr b="0" i="0" sz="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3232295" y="1661630"/>
            <a:ext cx="1417200" cy="8412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BFC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0"/>
          <p:cNvSpPr/>
          <p:nvPr/>
        </p:nvSpPr>
        <p:spPr>
          <a:xfrm>
            <a:off x="3360311" y="1826222"/>
            <a:ext cx="123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Generación de candidatos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3360306" y="2120101"/>
            <a:ext cx="12345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s" sz="6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popularidad por categoría</a:t>
            </a:r>
            <a:endParaRPr b="0" i="0" sz="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s" sz="6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+ popularidad por segmento</a:t>
            </a:r>
            <a:endParaRPr b="0" i="0" sz="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923935" y="1661630"/>
            <a:ext cx="1234500" cy="8412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BFC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5051951" y="1826222"/>
            <a:ext cx="1051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Ranking explicable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5051943" y="2120101"/>
            <a:ext cx="10515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s" sz="6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score_cat + score_seg</a:t>
            </a:r>
            <a:endParaRPr b="0" i="0" sz="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s" sz="6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- penalización compra reciente</a:t>
            </a:r>
            <a:endParaRPr b="0" i="0" sz="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6432701" y="1661625"/>
            <a:ext cx="1008300" cy="8412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2700">
            <a:solidFill>
              <a:srgbClr val="BFC7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6487550" y="1826225"/>
            <a:ext cx="879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Respuesta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6560700" y="2120100"/>
            <a:ext cx="8067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s" sz="6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top-N productos</a:t>
            </a:r>
            <a:endParaRPr b="0" i="0" sz="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s" sz="6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+ logging de feedback</a:t>
            </a:r>
            <a:endParaRPr b="0" i="0" sz="6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6402920" y="2688895"/>
            <a:ext cx="2240400" cy="621900"/>
          </a:xfrm>
          <a:prstGeom prst="roundRect">
            <a:avLst>
              <a:gd fmla="val 11765" name="adj"/>
            </a:avLst>
          </a:prstGeom>
          <a:solidFill>
            <a:srgbClr val="F8FAFC"/>
          </a:solidFill>
          <a:ln cap="flat" cmpd="sng" w="12700">
            <a:solidFill>
              <a:srgbClr val="D5DB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6585800" y="2771300"/>
            <a:ext cx="1851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Reglas de control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6585800" y="3036367"/>
            <a:ext cx="178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39"/>
              <a:buFont typeface="Arial"/>
              <a:buNone/>
            </a:pPr>
            <a:r>
              <a:rPr b="0" i="0" lang="es" sz="74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Diversidad, exclusiones, stock, coherencia comercial y fallback para usuarios nuevos.</a:t>
            </a:r>
            <a:endParaRPr b="0" i="0" sz="7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867600" y="3740475"/>
            <a:ext cx="2978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90"/>
              <a:buFont typeface="Arial"/>
              <a:buNone/>
            </a:pPr>
            <a:r>
              <a:rPr b="0" i="0" lang="es" sz="79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 Identificar cliente autenticado.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867600" y="3897675"/>
            <a:ext cx="3353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90"/>
              <a:buFont typeface="Arial"/>
              <a:buNone/>
            </a:pPr>
            <a:r>
              <a:rPr b="0" i="0" lang="es" sz="79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2. Consultar customer_segment_primary, flags y categoría favorita.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867600" y="4054850"/>
            <a:ext cx="30867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90"/>
              <a:buFont typeface="Arial"/>
              <a:buNone/>
            </a:pPr>
            <a:r>
              <a:rPr b="0" i="0" lang="es" sz="79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3. Leer purchase_history_summary e historial reciente.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867600" y="4212050"/>
            <a:ext cx="3086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90"/>
              <a:buFont typeface="Arial"/>
              <a:buNone/>
            </a:pPr>
            <a:r>
              <a:rPr b="0" i="0" lang="es" sz="79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4. Generar candidatos por segmento, categoría y popularidad.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867600" y="4369251"/>
            <a:ext cx="2978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90"/>
              <a:buFont typeface="Arial"/>
              <a:buNone/>
            </a:pPr>
            <a:r>
              <a:rPr b="0" i="0" lang="es" sz="79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5. Aplicar ranking y filtros de exclusión.</a:t>
            </a:r>
            <a:endParaRPr b="0" i="0" sz="7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/>
          <p:nvPr/>
        </p:nvSpPr>
        <p:spPr>
          <a:xfrm>
            <a:off x="27432" y="109728"/>
            <a:ext cx="9066300" cy="4923900"/>
          </a:xfrm>
          <a:prstGeom prst="roundRect">
            <a:avLst>
              <a:gd fmla="val 1671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27432" y="109728"/>
            <a:ext cx="82200" cy="4923900"/>
          </a:xfrm>
          <a:prstGeom prst="rect">
            <a:avLst/>
          </a:prstGeom>
          <a:solidFill>
            <a:srgbClr val="F2D22E"/>
          </a:solidFill>
          <a:ln cap="flat" cmpd="sng" w="12700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123444" y="109728"/>
            <a:ext cx="34200" cy="4923900"/>
          </a:xfrm>
          <a:prstGeom prst="rect">
            <a:avLst/>
          </a:prstGeom>
          <a:solidFill>
            <a:srgbClr val="2448A8"/>
          </a:solidFill>
          <a:ln cap="flat" cmpd="sng" w="12700">
            <a:solidFill>
              <a:srgbClr val="244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48006" y="13716"/>
            <a:ext cx="685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700">
                <a:solidFill>
                  <a:srgbClr val="4B5563"/>
                </a:solidFill>
              </a:rPr>
              <a:t>7</a:t>
            </a:r>
            <a:r>
              <a:rPr lang="es" sz="7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s" sz="700">
                <a:solidFill>
                  <a:srgbClr val="4B5563"/>
                </a:solidFill>
              </a:rPr>
              <a:t>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7852601" y="240025"/>
            <a:ext cx="960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2448A8"/>
                </a:solidFill>
              </a:rPr>
              <a:t>GEO &amp; RETAIL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7440930" y="384048"/>
            <a:ext cx="1371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t/>
            </a:r>
            <a:endParaRPr sz="600">
              <a:solidFill>
                <a:srgbClr val="4B5563"/>
              </a:solidFill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397775" y="356625"/>
            <a:ext cx="7288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1F293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5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rPr>
              <a:t>Punto 5 · Ubicación óptima del centro comercial</a:t>
            </a:r>
            <a:endParaRPr b="1" sz="1950">
              <a:solidFill>
                <a:srgbClr val="1F293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Arial"/>
              <a:buNone/>
            </a:pPr>
            <a:r>
              <a:t/>
            </a:r>
            <a:endParaRPr b="1" sz="1900">
              <a:solidFill>
                <a:srgbClr val="1F2937"/>
              </a:solidFill>
            </a:endParaRPr>
          </a:p>
        </p:txBody>
      </p:sp>
      <p:cxnSp>
        <p:nvCxnSpPr>
          <p:cNvPr id="281" name="Google Shape;281;p21"/>
          <p:cNvCxnSpPr/>
          <p:nvPr/>
        </p:nvCxnSpPr>
        <p:spPr>
          <a:xfrm>
            <a:off x="171450" y="932688"/>
            <a:ext cx="8709600" cy="0"/>
          </a:xfrm>
          <a:prstGeom prst="straightConnector1">
            <a:avLst/>
          </a:prstGeom>
          <a:noFill/>
          <a:ln cap="flat" cmpd="sng" w="12700">
            <a:solidFill>
              <a:srgbClr val="B8C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21"/>
          <p:cNvSpPr/>
          <p:nvPr/>
        </p:nvSpPr>
        <p:spPr>
          <a:xfrm>
            <a:off x="240030" y="4834890"/>
            <a:ext cx="45264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Autor: Daniel H. Certuche · Repositorio: GitHub 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7783830" y="4834890"/>
            <a:ext cx="9600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Fecha: 2026-03-29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6410725" y="2023963"/>
            <a:ext cx="23331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90"/>
              <a:buFont typeface="Arial"/>
              <a:buNone/>
            </a:pPr>
            <a:r>
              <a:rPr lang="es" sz="790">
                <a:solidFill>
                  <a:srgbClr val="1F2937"/>
                </a:solidFill>
              </a:rPr>
              <a:t>La ciudad priorizada combina:</a:t>
            </a:r>
            <a:endParaRPr sz="790">
              <a:solidFill>
                <a:srgbClr val="1F293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90"/>
              <a:buFont typeface="Arial"/>
              <a:buNone/>
            </a:pPr>
            <a:r>
              <a:t/>
            </a:r>
            <a:endParaRPr sz="790">
              <a:solidFill>
                <a:srgbClr val="1F2937"/>
              </a:solidFill>
            </a:endParaRPr>
          </a:p>
          <a:p>
            <a:pPr indent="-278765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90"/>
              <a:buChar char="-"/>
            </a:pPr>
            <a:r>
              <a:rPr lang="es" sz="790">
                <a:solidFill>
                  <a:srgbClr val="1F2937"/>
                </a:solidFill>
              </a:rPr>
              <a:t>mayor escala comercial,</a:t>
            </a:r>
            <a:endParaRPr sz="790">
              <a:solidFill>
                <a:srgbClr val="1F2937"/>
              </a:solidFill>
            </a:endParaRPr>
          </a:p>
          <a:p>
            <a:pPr indent="-278765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90"/>
              <a:buChar char="-"/>
            </a:pPr>
            <a:r>
              <a:rPr lang="es" sz="790">
                <a:solidFill>
                  <a:srgbClr val="1F2937"/>
                </a:solidFill>
              </a:rPr>
              <a:t>mayor base de clientes,</a:t>
            </a:r>
            <a:endParaRPr sz="790">
              <a:solidFill>
                <a:srgbClr val="1F2937"/>
              </a:solidFill>
            </a:endParaRPr>
          </a:p>
          <a:p>
            <a:pPr indent="-278765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90"/>
              <a:buChar char="-"/>
            </a:pPr>
            <a:r>
              <a:rPr lang="es" sz="790">
                <a:solidFill>
                  <a:srgbClr val="1F2937"/>
                </a:solidFill>
              </a:rPr>
              <a:t>ticket promedio competitivo</a:t>
            </a:r>
            <a:endParaRPr sz="790">
              <a:solidFill>
                <a:srgbClr val="1F2937"/>
              </a:solidFill>
            </a:endParaRPr>
          </a:p>
        </p:txBody>
      </p:sp>
      <p:pic>
        <p:nvPicPr>
          <p:cNvPr id="285" name="Google Shape;2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800" y="1047950"/>
            <a:ext cx="5556474" cy="306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850" y="4264175"/>
            <a:ext cx="7950574" cy="4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"/>
          <p:cNvSpPr/>
          <p:nvPr/>
        </p:nvSpPr>
        <p:spPr>
          <a:xfrm>
            <a:off x="27432" y="109728"/>
            <a:ext cx="9066276" cy="4924044"/>
          </a:xfrm>
          <a:prstGeom prst="roundRect">
            <a:avLst>
              <a:gd fmla="val 1671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27432" y="109728"/>
            <a:ext cx="82296" cy="4924044"/>
          </a:xfrm>
          <a:prstGeom prst="rect">
            <a:avLst/>
          </a:prstGeom>
          <a:solidFill>
            <a:srgbClr val="F2D22E"/>
          </a:solidFill>
          <a:ln cap="flat" cmpd="sng" w="12700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123444" y="109728"/>
            <a:ext cx="34290" cy="4924044"/>
          </a:xfrm>
          <a:prstGeom prst="rect">
            <a:avLst/>
          </a:prstGeom>
          <a:solidFill>
            <a:srgbClr val="2448A8"/>
          </a:solidFill>
          <a:ln cap="flat" cmpd="sng" w="12700">
            <a:solidFill>
              <a:srgbClr val="244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48006" y="13716"/>
            <a:ext cx="68580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700">
                <a:solidFill>
                  <a:srgbClr val="4B5563"/>
                </a:solidFill>
              </a:rPr>
              <a:t>8</a:t>
            </a:r>
            <a:r>
              <a:rPr lang="es" sz="7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s" sz="700">
                <a:solidFill>
                  <a:srgbClr val="4B5563"/>
                </a:solidFill>
              </a:rPr>
              <a:t>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7920990" y="240030"/>
            <a:ext cx="89154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AGENTE IA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7440930" y="384048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Knowledge base y system prompts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397775" y="356625"/>
            <a:ext cx="7248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Arial"/>
              <a:buNone/>
            </a:pPr>
            <a:r>
              <a:rPr b="1" lang="es" sz="1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Puntos 6–7 · Base de conocimiento y personalización conversacional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397764" y="966987"/>
            <a:ext cx="64464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El agente combina productos top, precio promedio real y prompts diferenciados por escenario de cliente.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22"/>
          <p:cNvCxnSpPr/>
          <p:nvPr/>
        </p:nvCxnSpPr>
        <p:spPr>
          <a:xfrm>
            <a:off x="171450" y="932688"/>
            <a:ext cx="8709660" cy="0"/>
          </a:xfrm>
          <a:prstGeom prst="straightConnector1">
            <a:avLst/>
          </a:prstGeom>
          <a:noFill/>
          <a:ln cap="flat" cmpd="sng" w="12700">
            <a:solidFill>
              <a:srgbClr val="B8C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22"/>
          <p:cNvSpPr/>
          <p:nvPr/>
        </p:nvSpPr>
        <p:spPr>
          <a:xfrm>
            <a:off x="397764" y="1179576"/>
            <a:ext cx="5726400" cy="3394800"/>
          </a:xfrm>
          <a:prstGeom prst="roundRect">
            <a:avLst>
              <a:gd fmla="val 1616" name="adj"/>
            </a:avLst>
          </a:prstGeom>
          <a:solidFill>
            <a:srgbClr val="FCFCFD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397764" y="1179576"/>
            <a:ext cx="5726430" cy="54864"/>
          </a:xfrm>
          <a:prstGeom prst="rect">
            <a:avLst/>
          </a:prstGeom>
          <a:solidFill>
            <a:srgbClr val="F2D22E"/>
          </a:solidFill>
          <a:ln cap="flat" cmpd="sng" w="12700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630936" y="1440180"/>
            <a:ext cx="2434590" cy="99441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4C7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754380" y="1563624"/>
            <a:ext cx="21945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1" lang="es" sz="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Health Beauty · SKU bb50...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768096" y="1783080"/>
            <a:ext cx="1440180" cy="164592"/>
          </a:xfrm>
          <a:prstGeom prst="roundRect">
            <a:avLst>
              <a:gd fmla="val 41667" name="adj"/>
            </a:avLst>
          </a:prstGeom>
          <a:solidFill>
            <a:srgbClr val="DFECE6"/>
          </a:solidFill>
          <a:ln cap="flat" cmpd="sng" w="12700">
            <a:solidFill>
              <a:srgbClr val="DF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891540" y="1810512"/>
            <a:ext cx="123444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700"/>
              <a:buFont typeface="Arial"/>
              <a:buNone/>
            </a:pPr>
            <a:r>
              <a:rPr b="1" lang="es" sz="700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Precio promedio: $327.63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768096" y="2009394"/>
            <a:ext cx="21945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lang="es" sz="7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Producto de alto valor dentro del portafolio de cuidado personal, útil para campañas de recompra y autocuidado.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3209544" y="1440180"/>
            <a:ext cx="2434590" cy="99441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4C7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3332988" y="1563624"/>
            <a:ext cx="21945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1" lang="es" sz="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Furniture Decor · SKU aca2...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3346704" y="1783080"/>
            <a:ext cx="1440180" cy="164592"/>
          </a:xfrm>
          <a:prstGeom prst="roundRect">
            <a:avLst>
              <a:gd fmla="val 41667" name="adj"/>
            </a:avLst>
          </a:prstGeom>
          <a:solidFill>
            <a:srgbClr val="DFECE6"/>
          </a:solidFill>
          <a:ln cap="flat" cmpd="sng" w="12700">
            <a:solidFill>
              <a:srgbClr val="DF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3470148" y="1810512"/>
            <a:ext cx="123444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700"/>
              <a:buFont typeface="Arial"/>
              <a:buNone/>
            </a:pPr>
            <a:r>
              <a:rPr b="1" lang="es" sz="700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Precio promedio: $71.35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3346704" y="2009394"/>
            <a:ext cx="21945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lang="es" sz="7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Referencia de rotación sólida para el hogar, ideal para recomendaciones de conveniencia y cross-sell.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630936" y="2592324"/>
            <a:ext cx="5013198" cy="99441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EAF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754380" y="2715768"/>
            <a:ext cx="477316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1" lang="es" sz="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Health Beauty · SKU 6cdd...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768096" y="2935224"/>
            <a:ext cx="1440180" cy="164592"/>
          </a:xfrm>
          <a:prstGeom prst="roundRect">
            <a:avLst>
              <a:gd fmla="val 41667" name="adj"/>
            </a:avLst>
          </a:prstGeom>
          <a:solidFill>
            <a:srgbClr val="DFECE6"/>
          </a:solidFill>
          <a:ln cap="flat" cmpd="sng" w="12700">
            <a:solidFill>
              <a:srgbClr val="DF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891540" y="2962656"/>
            <a:ext cx="123444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700"/>
              <a:buFont typeface="Arial"/>
              <a:buNone/>
            </a:pPr>
            <a:r>
              <a:rPr b="1" lang="es" sz="700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Precio promedio: $350.67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768096" y="3161538"/>
            <a:ext cx="4773168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00"/>
              <a:buFont typeface="Arial"/>
              <a:buNone/>
            </a:pPr>
            <a:r>
              <a:rPr lang="es" sz="7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Producto premium del portafolio top, apropiado para contextos de valor y recomendaciones con enfoque en calidad.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6343650" y="1179576"/>
            <a:ext cx="2400300" cy="3394710"/>
          </a:xfrm>
          <a:prstGeom prst="roundRect">
            <a:avLst>
              <a:gd fmla="val 2286" name="adj"/>
            </a:avLst>
          </a:prstGeom>
          <a:solidFill>
            <a:srgbClr val="FAFBFD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6343650" y="1179576"/>
            <a:ext cx="2400300" cy="48006"/>
          </a:xfrm>
          <a:prstGeom prst="rect">
            <a:avLst/>
          </a:prstGeom>
          <a:solidFill>
            <a:srgbClr val="2448A8"/>
          </a:solidFill>
          <a:ln cap="flat" cmpd="sng" w="12700">
            <a:solidFill>
              <a:srgbClr val="244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6425950" y="1276223"/>
            <a:ext cx="21945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1" lang="es" sz="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Prompts hiper-personalizados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6501100" y="1474650"/>
            <a:ext cx="13716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Variables de entrada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6686550" y="1714500"/>
            <a:ext cx="1440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[EDAD]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[GÉNERO]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[PERFIL_DE_CLIENTE]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[HISTORIAL_COMPRAS]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[BASE_CONOCIMIENTO]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6549400" y="2478950"/>
            <a:ext cx="10974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Tonos definidos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6549400" y="2722079"/>
            <a:ext cx="18516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Char char="•"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Joven digital y frecuente: tono ágil y actual.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Char char="•"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Mayor con fricción: tono empático y conservador.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Char char="•"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VIP: tono consultivo, premium y orientado a valor.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240030" y="4834890"/>
            <a:ext cx="45262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Autor: Daniel H. Certuche · Repositorio: GitHub 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7783830" y="4834890"/>
            <a:ext cx="9601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Fecha: 2026-03-29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"/>
          <p:cNvSpPr/>
          <p:nvPr/>
        </p:nvSpPr>
        <p:spPr>
          <a:xfrm>
            <a:off x="27432" y="109728"/>
            <a:ext cx="9066300" cy="4923900"/>
          </a:xfrm>
          <a:prstGeom prst="roundRect">
            <a:avLst>
              <a:gd fmla="val 1671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27432" y="109728"/>
            <a:ext cx="82296" cy="4924044"/>
          </a:xfrm>
          <a:prstGeom prst="rect">
            <a:avLst/>
          </a:prstGeom>
          <a:solidFill>
            <a:srgbClr val="2448A8"/>
          </a:solidFill>
          <a:ln cap="flat" cmpd="sng" w="12700">
            <a:solidFill>
              <a:srgbClr val="2448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123444" y="109728"/>
            <a:ext cx="34290" cy="4924044"/>
          </a:xfrm>
          <a:prstGeom prst="rect">
            <a:avLst/>
          </a:prstGeom>
          <a:solidFill>
            <a:srgbClr val="F2D22E"/>
          </a:solidFill>
          <a:ln cap="flat" cmpd="sng" w="12700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48006" y="13716"/>
            <a:ext cx="68580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700">
                <a:solidFill>
                  <a:srgbClr val="4B5563"/>
                </a:solidFill>
              </a:rPr>
              <a:t>9</a:t>
            </a:r>
            <a:r>
              <a:rPr lang="es" sz="7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s" sz="700">
                <a:solidFill>
                  <a:srgbClr val="4B5563"/>
                </a:solidFill>
              </a:rPr>
              <a:t>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7920990" y="240030"/>
            <a:ext cx="89154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800"/>
              <a:buFont typeface="Arial"/>
              <a:buNone/>
            </a:pPr>
            <a:r>
              <a:rPr b="1" lang="es" sz="800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CIERRE 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7440930" y="384048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</a:rPr>
              <a:t>Q1-Q7 | reto analítico y demo local</a:t>
            </a:r>
            <a:endParaRPr sz="600">
              <a:solidFill>
                <a:srgbClr val="4B5563"/>
              </a:solidFill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397764" y="356616"/>
            <a:ext cx="63093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Arial"/>
              <a:buNone/>
            </a:pPr>
            <a:r>
              <a:rPr b="1" lang="es" sz="1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397764" y="706374"/>
            <a:ext cx="644652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Síntesis de la evidencia y secuencia recomendada para implementación.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23"/>
          <p:cNvCxnSpPr/>
          <p:nvPr/>
        </p:nvCxnSpPr>
        <p:spPr>
          <a:xfrm>
            <a:off x="171450" y="932688"/>
            <a:ext cx="8709660" cy="0"/>
          </a:xfrm>
          <a:prstGeom prst="straightConnector1">
            <a:avLst/>
          </a:prstGeom>
          <a:noFill/>
          <a:ln cap="flat" cmpd="sng" w="12700">
            <a:solidFill>
              <a:srgbClr val="B8C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23"/>
          <p:cNvSpPr/>
          <p:nvPr/>
        </p:nvSpPr>
        <p:spPr>
          <a:xfrm>
            <a:off x="397780" y="1179575"/>
            <a:ext cx="8483400" cy="3394800"/>
          </a:xfrm>
          <a:prstGeom prst="roundRect">
            <a:avLst>
              <a:gd fmla="val 1616" name="adj"/>
            </a:avLst>
          </a:prstGeom>
          <a:solidFill>
            <a:srgbClr val="FCFCFD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397780" y="1179575"/>
            <a:ext cx="8483400" cy="76500"/>
          </a:xfrm>
          <a:prstGeom prst="rect">
            <a:avLst/>
          </a:prstGeom>
          <a:solidFill>
            <a:srgbClr val="F2D22E"/>
          </a:solidFill>
          <a:ln cap="flat" cmpd="sng" w="12700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589788" y="1371600"/>
            <a:ext cx="15087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lang="es" sz="1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Hallazgos 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240030" y="4834890"/>
            <a:ext cx="45262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Autor: Daniel H. Certuche · Repositorio: GitHub 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7783830" y="4834890"/>
            <a:ext cx="9601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0"/>
              <a:buFont typeface="Arial"/>
              <a:buNone/>
            </a:pPr>
            <a:r>
              <a:rPr lang="es" sz="6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Fecha: 2026-03-29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1405950" y="1675944"/>
            <a:ext cx="2061000" cy="102630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 cap="flat" cmpd="sng" w="11675">
            <a:solidFill>
              <a:srgbClr val="D6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100" lIns="84100" spcFirstLastPara="1" rIns="84100" wrap="square" tIns="8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3"/>
          <p:cNvSpPr/>
          <p:nvPr/>
        </p:nvSpPr>
        <p:spPr>
          <a:xfrm>
            <a:off x="1506899" y="1776893"/>
            <a:ext cx="18594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050" lIns="84100" spcFirstLastPara="1" rIns="84100" wrap="square" tIns="42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1150"/>
              <a:buFont typeface="Arial"/>
              <a:buNone/>
            </a:pPr>
            <a:r>
              <a:rPr b="1" i="0" lang="es" sz="1149" u="none" cap="none" strike="noStrike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Ventas</a:t>
            </a:r>
            <a:endParaRPr b="0" i="0" sz="11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1506899" y="1978790"/>
            <a:ext cx="18594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050" lIns="84100" spcFirstLastPara="1" rIns="84100" wrap="square" tIns="42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64"/>
              <a:buFont typeface="Arial"/>
              <a:buNone/>
            </a:pPr>
            <a:r>
              <a:rPr b="0" i="0" lang="es" sz="864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El portafolio muestra liderazgo repartido: unas categorías destacan por volumen y otras por monetización. Conviene proteger ambas lógicas.</a:t>
            </a:r>
            <a:endParaRPr b="0" i="0" sz="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3635231" y="1675944"/>
            <a:ext cx="2061000" cy="1026300"/>
          </a:xfrm>
          <a:prstGeom prst="roundRect">
            <a:avLst>
              <a:gd fmla="val 3279" name="adj"/>
            </a:avLst>
          </a:prstGeom>
          <a:solidFill>
            <a:srgbClr val="FFFBEA"/>
          </a:solidFill>
          <a:ln cap="flat" cmpd="sng" w="11675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100" lIns="84100" spcFirstLastPara="1" rIns="84100" wrap="square" tIns="8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3"/>
          <p:cNvSpPr/>
          <p:nvPr/>
        </p:nvSpPr>
        <p:spPr>
          <a:xfrm>
            <a:off x="3736179" y="1776893"/>
            <a:ext cx="18594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050" lIns="84100" spcFirstLastPara="1" rIns="84100" wrap="square" tIns="42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1150"/>
              <a:buFont typeface="Arial"/>
              <a:buNone/>
            </a:pPr>
            <a:r>
              <a:rPr b="1" i="0" lang="es" sz="1149" u="none" cap="none" strike="noStrike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Experiencia</a:t>
            </a:r>
            <a:endParaRPr b="0" i="0" sz="11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3736179" y="1978790"/>
            <a:ext cx="18594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050" lIns="84100" spcFirstLastPara="1" rIns="84100" wrap="square" tIns="42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64"/>
              <a:buFont typeface="Arial"/>
              <a:buNone/>
            </a:pPr>
            <a:r>
              <a:rPr b="0" i="0" lang="es" sz="864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La entrega tardía es la señal más consistente de deterioro: la mala reseña sube de 11% a 61% y la calificación cae de 4.21 a 2.26.</a:t>
            </a:r>
            <a:endParaRPr b="0" i="0" sz="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5864512" y="1675944"/>
            <a:ext cx="1850700" cy="102630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 cap="flat" cmpd="sng" w="11675">
            <a:solidFill>
              <a:srgbClr val="4C7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100" lIns="84100" spcFirstLastPara="1" rIns="84100" wrap="square" tIns="8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3"/>
          <p:cNvSpPr/>
          <p:nvPr/>
        </p:nvSpPr>
        <p:spPr>
          <a:xfrm>
            <a:off x="5965460" y="1776893"/>
            <a:ext cx="16488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050" lIns="84100" spcFirstLastPara="1" rIns="84100" wrap="square" tIns="42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1150"/>
              <a:buFont typeface="Arial"/>
              <a:buNone/>
            </a:pPr>
            <a:r>
              <a:rPr b="1" i="0" lang="es" sz="1149" u="none" cap="none" strike="noStrike">
                <a:solidFill>
                  <a:srgbClr val="2448A8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b="0" i="0" sz="11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5965460" y="1978790"/>
            <a:ext cx="16488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050" lIns="84100" spcFirstLastPara="1" rIns="84100" wrap="square" tIns="42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64"/>
              <a:buFont typeface="Arial"/>
              <a:buNone/>
            </a:pPr>
            <a:r>
              <a:rPr b="0" i="0" lang="es" sz="864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La segmentación operativa permite distinguir base esporádica, riesgo de abandono y nichos de mayor valor para campañas.</a:t>
            </a:r>
            <a:endParaRPr b="0" i="0" sz="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1780288" y="3034263"/>
            <a:ext cx="1794000" cy="133260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 cap="flat" cmpd="sng" w="10175">
            <a:solidFill>
              <a:srgbClr val="D6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1"/>
          </a:p>
        </p:txBody>
      </p:sp>
      <p:sp>
        <p:nvSpPr>
          <p:cNvPr id="356" name="Google Shape;356;p23"/>
          <p:cNvSpPr/>
          <p:nvPr/>
        </p:nvSpPr>
        <p:spPr>
          <a:xfrm>
            <a:off x="1868167" y="3122137"/>
            <a:ext cx="1618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600" lIns="73225" spcFirstLastPara="1" rIns="73225" wrap="square" tIns="36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1001"/>
              <a:buFont typeface="Arial"/>
              <a:buNone/>
            </a:pPr>
            <a:r>
              <a:rPr b="1" lang="es" sz="1001">
                <a:solidFill>
                  <a:srgbClr val="2448A8"/>
                </a:solidFill>
              </a:rPr>
              <a:t>Recomendación</a:t>
            </a:r>
            <a:endParaRPr b="0" i="0" sz="10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1868167" y="3297880"/>
            <a:ext cx="16182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600" lIns="73225" spcFirstLastPara="1" rIns="73225" wrap="square" tIns="36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2"/>
              <a:buFont typeface="Arial"/>
              <a:buNone/>
            </a:pPr>
            <a:r>
              <a:rPr lang="es" sz="752">
                <a:solidFill>
                  <a:srgbClr val="4B5563"/>
                </a:solidFill>
              </a:rPr>
              <a:t>El recomendador debe operar con lógica híbrida, usando segmento, historial y afinidad para producir recomendaciones explicables</a:t>
            </a:r>
            <a:endParaRPr b="0" i="0" sz="75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3720786" y="3034263"/>
            <a:ext cx="1794000" cy="1332600"/>
          </a:xfrm>
          <a:prstGeom prst="roundRect">
            <a:avLst>
              <a:gd fmla="val 3279" name="adj"/>
            </a:avLst>
          </a:prstGeom>
          <a:solidFill>
            <a:srgbClr val="FFFBEA"/>
          </a:solidFill>
          <a:ln cap="flat" cmpd="sng" w="10175">
            <a:solidFill>
              <a:srgbClr val="F2D2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1"/>
          </a:p>
        </p:txBody>
      </p:sp>
      <p:sp>
        <p:nvSpPr>
          <p:cNvPr id="359" name="Google Shape;359;p23"/>
          <p:cNvSpPr/>
          <p:nvPr/>
        </p:nvSpPr>
        <p:spPr>
          <a:xfrm>
            <a:off x="3808653" y="3122137"/>
            <a:ext cx="1618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600" lIns="73225" spcFirstLastPara="1" rIns="73225" wrap="square" tIns="36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1001"/>
              <a:buFont typeface="Arial"/>
              <a:buNone/>
            </a:pPr>
            <a:r>
              <a:rPr b="1" lang="es" sz="1001">
                <a:solidFill>
                  <a:srgbClr val="2448A8"/>
                </a:solidFill>
              </a:rPr>
              <a:t>Expansión y base</a:t>
            </a:r>
            <a:endParaRPr b="0" i="0" sz="10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3808655" y="3297893"/>
            <a:ext cx="16182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600" lIns="73225" spcFirstLastPara="1" rIns="73225" wrap="square" tIns="36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2"/>
              <a:buFont typeface="Arial"/>
              <a:buNone/>
            </a:pPr>
            <a:r>
              <a:rPr lang="es" sz="752">
                <a:solidFill>
                  <a:srgbClr val="4B5563"/>
                </a:solidFill>
              </a:rPr>
              <a:t>La expansión física y la personalización comercial se fortalecen cuando comparten una misma capa de conocimiento: productos priorizados con evidencia de demanda, precio real y contexto de negocio</a:t>
            </a:r>
            <a:endParaRPr b="0" i="0" sz="75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5661265" y="3034263"/>
            <a:ext cx="1611000" cy="133260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 cap="flat" cmpd="sng" w="10175">
            <a:solidFill>
              <a:srgbClr val="4C7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25" lIns="73225" spcFirstLastPara="1" rIns="73225" wrap="square" tIns="7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1"/>
          </a:p>
        </p:txBody>
      </p:sp>
      <p:sp>
        <p:nvSpPr>
          <p:cNvPr id="362" name="Google Shape;362;p23"/>
          <p:cNvSpPr/>
          <p:nvPr/>
        </p:nvSpPr>
        <p:spPr>
          <a:xfrm>
            <a:off x="5749140" y="3122137"/>
            <a:ext cx="1435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600" lIns="73225" spcFirstLastPara="1" rIns="73225" wrap="square" tIns="36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8A8"/>
              </a:buClr>
              <a:buSzPts val="1001"/>
              <a:buFont typeface="Arial"/>
              <a:buNone/>
            </a:pPr>
            <a:r>
              <a:rPr b="1" lang="es" sz="1001">
                <a:solidFill>
                  <a:srgbClr val="2448A8"/>
                </a:solidFill>
              </a:rPr>
              <a:t>Prompts</a:t>
            </a:r>
            <a:endParaRPr b="0" i="0" sz="10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5697962" y="3297888"/>
            <a:ext cx="15378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600" lIns="73225" spcFirstLastPara="1" rIns="73225" wrap="square" tIns="36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52"/>
              <a:buFont typeface="Arial"/>
              <a:buNone/>
            </a:pPr>
            <a:r>
              <a:rPr lang="es" sz="752">
                <a:solidFill>
                  <a:srgbClr val="4B5563"/>
                </a:solidFill>
              </a:rPr>
              <a:t>En arquitectura real, el agente no debería depender solo de prompts estáticos, sino de una capa de decisión que combine customer 360, reglas de negocio, base de conocimiento y memoria de contexto para responder de forma consistente, personalizada y trazable.</a:t>
            </a:r>
            <a:endParaRPr b="0" i="0" sz="75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